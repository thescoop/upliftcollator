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F2F5"/>
    <a:srgbClr val="006E3A"/>
    <a:srgbClr val="F5FAF8"/>
    <a:srgbClr val="64A0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245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47685-4112-DF56-779A-00995F005A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156C48-99D3-FC59-362A-5A13581C1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6CA750-45E5-FC3C-0176-5CCBEE610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9D419-DDC7-4FBB-8FB2-132DCC6614EA}" type="datetimeFigureOut">
              <a:rPr lang="en-GB" smtClean="0"/>
              <a:t>16/05/2025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719842-10E6-52D9-EB71-C332E922C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3884A6-43C5-BA2C-15CD-85EF8CA75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DB57E-F3AD-4EEE-AAE0-2566328103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7062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652D5-02EB-25F6-D7A7-497B205EB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5C0891-0FB8-8D10-ED95-F2CC7ACFC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056CC7-A234-DC86-3407-21DB7E948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9D419-DDC7-4FBB-8FB2-132DCC6614EA}" type="datetimeFigureOut">
              <a:rPr lang="en-GB" smtClean="0"/>
              <a:t>16/05/2025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791853-F4B5-A81B-DB19-57418FD7A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64BD42-D375-8A2E-3251-7FD04482D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DB57E-F3AD-4EEE-AAE0-2566328103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2265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90C6B-3F45-5252-5601-F0F869DC7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C02C9D-8E41-23D2-E7F1-D32DE085B3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9F9875-E633-9315-67F0-C8BD0E6F1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9D419-DDC7-4FBB-8FB2-132DCC6614EA}" type="datetimeFigureOut">
              <a:rPr lang="en-GB" smtClean="0"/>
              <a:t>16/05/2025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7B1156-1339-4F9A-039B-6D3BBDD21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44C50B-9805-BC40-543F-72510DB14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DB57E-F3AD-4EEE-AAE0-2566328103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6627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2D462-71EA-65EA-E3CA-F0E511D55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386690-2B1F-D611-43FD-C491450B22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97038F-2640-38FD-77E7-AE6C3EFE0C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F40B21-D49B-E03D-96CD-497B481FF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9D419-DDC7-4FBB-8FB2-132DCC6614EA}" type="datetimeFigureOut">
              <a:rPr lang="en-GB" smtClean="0"/>
              <a:t>16/05/2025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C9A1CA-3B5B-8E84-6E4F-4F982E814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4ADF6C-B2AB-A53E-AFF0-30AE269B3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DB57E-F3AD-4EEE-AAE0-2566328103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5319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F054E-717F-3704-5B48-72020E259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86233C-C08E-7CBD-F48A-B8B3FD8E74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EA83B1-0E7F-2DB1-0F1C-15A98B3878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4E7C12-A948-AE21-F5A5-760244508A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1479F2-372D-AB68-A606-D0369EEB68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53A10B-BC51-DCAC-5FA4-987C9CB9E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9D419-DDC7-4FBB-8FB2-132DCC6614EA}" type="datetimeFigureOut">
              <a:rPr lang="en-GB" smtClean="0"/>
              <a:t>16/05/2025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6C388B-3C83-7318-7703-AF5B33EFC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1615DE-7375-F43F-F262-C0DCD1195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DB57E-F3AD-4EEE-AAE0-2566328103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2897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1D296-E856-AE64-0221-09F6B27E6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417D55-A493-6AC6-3E96-AD8540445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9D419-DDC7-4FBB-8FB2-132DCC6614EA}" type="datetimeFigureOut">
              <a:rPr lang="en-GB" smtClean="0"/>
              <a:t>16/05/2025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DC7DD7-1914-2453-94B3-5DE358D96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0A833A-0A23-B1A6-0323-A4DBAAFB9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DB57E-F3AD-4EEE-AAE0-2566328103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09604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3655C1-2BEC-05E1-A52A-BE3E4CD5E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9D419-DDC7-4FBB-8FB2-132DCC6614EA}" type="datetimeFigureOut">
              <a:rPr lang="en-GB" smtClean="0"/>
              <a:t>16/05/2025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061A0F-5ED5-43E9-60C8-028BC347A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D26967-9F07-BAC1-24BC-17C3730D0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DB57E-F3AD-4EEE-AAE0-2566328103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06956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D5A77-56F5-820D-C5B7-CA4CCFFC9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5BB1E6-7357-6621-3C7E-8A2023429F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0C1BAE-5F8A-AB99-0E51-BE0D56A3F6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E3F6E5-C0D4-1C52-E664-8157245B0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9D419-DDC7-4FBB-8FB2-132DCC6614EA}" type="datetimeFigureOut">
              <a:rPr lang="en-GB" smtClean="0"/>
              <a:t>16/05/2025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9B5BCB-7890-FB76-CB33-08F085A20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77E174-555C-90BC-42F5-4BD349C07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DB57E-F3AD-4EEE-AAE0-2566328103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81048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3F9F4-24D3-BAF8-631A-BD358B1B8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77CB54-7277-8F41-C31E-33022EEFE8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AB0E82-8B20-E07C-F5A0-8536783ADC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9C9DCA-5D76-CE20-36CE-98CE524AA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9D419-DDC7-4FBB-8FB2-132DCC6614EA}" type="datetimeFigureOut">
              <a:rPr lang="en-GB" smtClean="0"/>
              <a:t>16/05/2025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5AFB2B-5C32-324E-FD64-93D87202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81465E-C58C-F167-35C0-6B18CA40D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DB57E-F3AD-4EEE-AAE0-2566328103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6471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67F69-59D1-77C7-530B-45F989D27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C91EE8-DC5F-C844-F920-74C76A76BF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2B2138-8F1E-F38D-4C83-542BB3D2B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9D419-DDC7-4FBB-8FB2-132DCC6614EA}" type="datetimeFigureOut">
              <a:rPr lang="en-GB" smtClean="0"/>
              <a:t>16/05/2025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5D8530-1148-2AEB-1FD0-240EC9647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5E7E2-6A6B-8726-BE05-7E24339E2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DB57E-F3AD-4EEE-AAE0-2566328103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9849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DF3078-2BE5-0637-5404-A651167272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17D719-FAF0-935D-169D-51439DF02F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2376C5-53C0-375D-2DDC-F8EA70FB8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9D419-DDC7-4FBB-8FB2-132DCC6614EA}" type="datetimeFigureOut">
              <a:rPr lang="en-GB" smtClean="0"/>
              <a:t>16/05/2025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C19540-6CBF-D357-99F1-B30456191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DB57BA-5836-18E2-6B4F-871D7FB76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DB57E-F3AD-4EEE-AAE0-2566328103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5983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0874AE-9BE3-8271-B8D3-2343AB77B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3E8034-01B4-77EA-8C03-09C78D6045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64F903-157D-756B-447F-402DC8C5DC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79D419-DDC7-4FBB-8FB2-132DCC6614EA}" type="datetimeFigureOut">
              <a:rPr lang="en-GB" smtClean="0"/>
              <a:t>16/05/2025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914A69-D3BD-C495-28F9-9011AFBF45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157EB1-776A-C1CD-E1B7-346544A77E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3DB57E-F3AD-4EEE-AAE0-2566328103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0174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6307DCD-B5C6-F0A5-777D-9D97E02A90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37" y="-63910"/>
            <a:ext cx="11972925" cy="3352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9794BB1-15C5-D41C-0086-2B8D0ACED6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37" y="3429000"/>
            <a:ext cx="11972925" cy="33528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CD1A3F0-23C7-8635-BAA7-783F44302218}"/>
              </a:ext>
            </a:extLst>
          </p:cNvPr>
          <p:cNvSpPr/>
          <p:nvPr/>
        </p:nvSpPr>
        <p:spPr>
          <a:xfrm>
            <a:off x="275303" y="4208206"/>
            <a:ext cx="11523407" cy="23499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396FD1-DEC3-C8BE-D9F3-6BFC5E8EAEE6}"/>
              </a:ext>
            </a:extLst>
          </p:cNvPr>
          <p:cNvSpPr/>
          <p:nvPr/>
        </p:nvSpPr>
        <p:spPr>
          <a:xfrm>
            <a:off x="1661651" y="4345858"/>
            <a:ext cx="3932903" cy="3146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226617-CA24-857D-BB72-099AAC7FC7F3}"/>
              </a:ext>
            </a:extLst>
          </p:cNvPr>
          <p:cNvSpPr txBox="1"/>
          <p:nvPr/>
        </p:nvSpPr>
        <p:spPr>
          <a:xfrm>
            <a:off x="275303" y="4345858"/>
            <a:ext cx="215326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Fee Earner:</a:t>
            </a:r>
            <a:br>
              <a:rPr lang="en-GB" sz="1400" dirty="0"/>
            </a:br>
            <a:br>
              <a:rPr lang="en-GB" sz="1400" dirty="0"/>
            </a:br>
            <a:r>
              <a:rPr lang="en-GB" sz="1400" dirty="0"/>
              <a:t>Case / Matter:</a:t>
            </a:r>
            <a:br>
              <a:rPr lang="en-GB" sz="1400" dirty="0"/>
            </a:br>
            <a:endParaRPr lang="en-GB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1951E4-B86A-0BA2-04C0-DFAB6293203A}"/>
              </a:ext>
            </a:extLst>
          </p:cNvPr>
          <p:cNvSpPr txBox="1"/>
          <p:nvPr/>
        </p:nvSpPr>
        <p:spPr>
          <a:xfrm>
            <a:off x="6095999" y="4345858"/>
            <a:ext cx="215326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Matter Type:</a:t>
            </a:r>
            <a:br>
              <a:rPr lang="en-GB" sz="1400" dirty="0"/>
            </a:br>
            <a:br>
              <a:rPr lang="en-GB" sz="1400" dirty="0"/>
            </a:br>
            <a:r>
              <a:rPr lang="en-GB" sz="1400" dirty="0"/>
              <a:t>Proposed Uplift %:</a:t>
            </a:r>
            <a:br>
              <a:rPr lang="en-GB" sz="1400" dirty="0"/>
            </a:br>
            <a:endParaRPr lang="en-GB" sz="14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6384866-0283-5AFE-6ED2-01A4959C9A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85" y="5158969"/>
            <a:ext cx="12137615" cy="352425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26527BAD-A223-9554-74EB-C883D9F48328}"/>
              </a:ext>
            </a:extLst>
          </p:cNvPr>
          <p:cNvSpPr/>
          <p:nvPr/>
        </p:nvSpPr>
        <p:spPr>
          <a:xfrm>
            <a:off x="1661651" y="4766033"/>
            <a:ext cx="3932903" cy="3146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98A2DEC-5572-0FE2-EB09-5152D3C393D5}"/>
              </a:ext>
            </a:extLst>
          </p:cNvPr>
          <p:cNvSpPr/>
          <p:nvPr/>
        </p:nvSpPr>
        <p:spPr>
          <a:xfrm>
            <a:off x="7920959" y="4329804"/>
            <a:ext cx="3932903" cy="3146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EF8D90-4089-5807-6266-29044F481518}"/>
              </a:ext>
            </a:extLst>
          </p:cNvPr>
          <p:cNvSpPr/>
          <p:nvPr/>
        </p:nvSpPr>
        <p:spPr>
          <a:xfrm>
            <a:off x="7920959" y="4749979"/>
            <a:ext cx="623273" cy="3146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86EEABC-DC41-B0DB-1033-FFD0F1D0C055}"/>
              </a:ext>
            </a:extLst>
          </p:cNvPr>
          <p:cNvSpPr txBox="1"/>
          <p:nvPr/>
        </p:nvSpPr>
        <p:spPr>
          <a:xfrm>
            <a:off x="8710689" y="4749979"/>
            <a:ext cx="21532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>
                <a:solidFill>
                  <a:srgbClr val="0070C0"/>
                </a:solidFill>
              </a:rPr>
              <a:t>Suggested:   %</a:t>
            </a:r>
            <a:endParaRPr lang="en-GB" sz="1400" i="1" dirty="0">
              <a:solidFill>
                <a:srgbClr val="0070C0"/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0B379F2-A8C4-0F22-E2B2-45E387002F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8689" y="5010233"/>
            <a:ext cx="3143250" cy="187497"/>
          </a:xfrm>
          <a:prstGeom prst="rect">
            <a:avLst/>
          </a:prstGeom>
        </p:spPr>
      </p:pic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4831AB24-78B4-D6AF-BE37-9AAD8F7D5FF1}"/>
              </a:ext>
            </a:extLst>
          </p:cNvPr>
          <p:cNvSpPr/>
          <p:nvPr/>
        </p:nvSpPr>
        <p:spPr>
          <a:xfrm rot="10800000">
            <a:off x="11521486" y="4384496"/>
            <a:ext cx="176981" cy="189507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6DEDFD7-04B8-6E87-E6F9-D0CDE462B0F2}"/>
              </a:ext>
            </a:extLst>
          </p:cNvPr>
          <p:cNvSpPr txBox="1"/>
          <p:nvPr/>
        </p:nvSpPr>
        <p:spPr>
          <a:xfrm>
            <a:off x="7920959" y="4319733"/>
            <a:ext cx="21532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Select Case Type ...</a:t>
            </a:r>
            <a:br>
              <a:rPr lang="en-GB" sz="1400" dirty="0"/>
            </a:b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10079133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22648-29FF-EBA3-6826-29258D84D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9608C8B-9A51-FDE2-3DEB-D56BAEB86A1E}"/>
              </a:ext>
            </a:extLst>
          </p:cNvPr>
          <p:cNvSpPr/>
          <p:nvPr/>
        </p:nvSpPr>
        <p:spPr>
          <a:xfrm>
            <a:off x="2275840" y="2289000"/>
            <a:ext cx="3932903" cy="3146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A08E54-B0AD-D850-3C8A-75C3DF49E037}"/>
              </a:ext>
            </a:extLst>
          </p:cNvPr>
          <p:cNvSpPr txBox="1"/>
          <p:nvPr/>
        </p:nvSpPr>
        <p:spPr>
          <a:xfrm>
            <a:off x="2162703" y="1988719"/>
            <a:ext cx="215326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Fee Earner:</a:t>
            </a:r>
            <a:br>
              <a:rPr lang="en-GB" sz="1400" dirty="0"/>
            </a:br>
            <a:endParaRPr lang="en-GB" sz="1400" dirty="0"/>
          </a:p>
          <a:p>
            <a:br>
              <a:rPr lang="en-GB" sz="1400" dirty="0"/>
            </a:br>
            <a:r>
              <a:rPr lang="en-GB" sz="1400" dirty="0"/>
              <a:t>Case / Matter:</a:t>
            </a:r>
            <a:br>
              <a:rPr lang="en-GB" sz="1400" dirty="0"/>
            </a:br>
            <a:endParaRPr lang="en-GB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3EF7C5-E31E-303A-B2D4-29B847D33E02}"/>
              </a:ext>
            </a:extLst>
          </p:cNvPr>
          <p:cNvSpPr txBox="1"/>
          <p:nvPr/>
        </p:nvSpPr>
        <p:spPr>
          <a:xfrm>
            <a:off x="2162703" y="3888388"/>
            <a:ext cx="21532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Matter Type: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DB69A8-2976-0F8A-0B82-5F822D885A31}"/>
              </a:ext>
            </a:extLst>
          </p:cNvPr>
          <p:cNvSpPr/>
          <p:nvPr/>
        </p:nvSpPr>
        <p:spPr>
          <a:xfrm>
            <a:off x="2275839" y="3017008"/>
            <a:ext cx="3932903" cy="3146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1E3EC1A-A109-E40D-7E58-2DC3D9D2885B}"/>
              </a:ext>
            </a:extLst>
          </p:cNvPr>
          <p:cNvSpPr/>
          <p:nvPr/>
        </p:nvSpPr>
        <p:spPr>
          <a:xfrm>
            <a:off x="2272834" y="4218891"/>
            <a:ext cx="3932903" cy="3146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68196F5B-F9B7-E830-1299-FDCBB98FEAA6}"/>
              </a:ext>
            </a:extLst>
          </p:cNvPr>
          <p:cNvSpPr/>
          <p:nvPr/>
        </p:nvSpPr>
        <p:spPr>
          <a:xfrm rot="10800000">
            <a:off x="5964558" y="4305892"/>
            <a:ext cx="124269" cy="133064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F05DFD4-F837-4B76-3CE6-DE3B29FC765D}"/>
              </a:ext>
            </a:extLst>
          </p:cNvPr>
          <p:cNvSpPr txBox="1"/>
          <p:nvPr/>
        </p:nvSpPr>
        <p:spPr>
          <a:xfrm>
            <a:off x="2275839" y="4212273"/>
            <a:ext cx="21532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bg1">
                    <a:lumMod val="75000"/>
                  </a:schemeClr>
                </a:solidFill>
              </a:rPr>
              <a:t>Select Case Type ...</a:t>
            </a:r>
            <a:br>
              <a:rPr lang="en-GB" sz="1400" dirty="0">
                <a:solidFill>
                  <a:schemeClr val="bg1">
                    <a:lumMod val="75000"/>
                  </a:schemeClr>
                </a:solidFill>
              </a:rPr>
            </a:br>
            <a:endParaRPr lang="en-GB" sz="14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8FF302F-3270-9136-3806-91B3A2CD8F02}"/>
              </a:ext>
            </a:extLst>
          </p:cNvPr>
          <p:cNvSpPr/>
          <p:nvPr/>
        </p:nvSpPr>
        <p:spPr>
          <a:xfrm>
            <a:off x="0" y="0"/>
            <a:ext cx="12192000" cy="95410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028BDC8-8C20-2711-CBC8-75BDD68064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114" y="32274"/>
            <a:ext cx="964603" cy="847795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94D8DEB5-A75F-63F1-D30D-362F6864DF7B}"/>
              </a:ext>
            </a:extLst>
          </p:cNvPr>
          <p:cNvSpPr txBox="1"/>
          <p:nvPr/>
        </p:nvSpPr>
        <p:spPr>
          <a:xfrm>
            <a:off x="3119717" y="160698"/>
            <a:ext cx="11962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Woodruff </a:t>
            </a:r>
            <a:br>
              <a:rPr lang="en-GB" b="1" dirty="0">
                <a:solidFill>
                  <a:schemeClr val="bg1"/>
                </a:solidFill>
              </a:rPr>
            </a:br>
            <a:r>
              <a:rPr lang="en-GB" b="1" dirty="0">
                <a:solidFill>
                  <a:schemeClr val="bg1"/>
                </a:solidFill>
              </a:rPr>
              <a:t>Billing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BC496C5-EB92-FBCE-10F2-53A19DD99469}"/>
              </a:ext>
            </a:extLst>
          </p:cNvPr>
          <p:cNvSpPr txBox="1"/>
          <p:nvPr/>
        </p:nvSpPr>
        <p:spPr>
          <a:xfrm>
            <a:off x="5161280" y="160698"/>
            <a:ext cx="34639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General Enhancements</a:t>
            </a:r>
            <a:br>
              <a:rPr lang="en-GB" b="1" dirty="0">
                <a:solidFill>
                  <a:schemeClr val="bg1"/>
                </a:solidFill>
              </a:rPr>
            </a:br>
            <a:r>
              <a:rPr lang="en-GB" dirty="0">
                <a:solidFill>
                  <a:schemeClr val="bg1"/>
                </a:solidFill>
              </a:rPr>
              <a:t>- Uplift Justification Collator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24B09F5-94D9-829B-B33E-DAAB44F34E9A}"/>
              </a:ext>
            </a:extLst>
          </p:cNvPr>
          <p:cNvSpPr/>
          <p:nvPr/>
        </p:nvSpPr>
        <p:spPr>
          <a:xfrm>
            <a:off x="2155114" y="954107"/>
            <a:ext cx="7761046" cy="113176"/>
          </a:xfrm>
          <a:prstGeom prst="rect">
            <a:avLst/>
          </a:prstGeom>
          <a:solidFill>
            <a:srgbClr val="64A0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3F528FB-0148-E63B-E425-7B7E652AFFC3}"/>
              </a:ext>
            </a:extLst>
          </p:cNvPr>
          <p:cNvSpPr txBox="1"/>
          <p:nvPr/>
        </p:nvSpPr>
        <p:spPr>
          <a:xfrm>
            <a:off x="2155114" y="1373369"/>
            <a:ext cx="4581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Uplift Justification Collator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7F1A4C0-CDD1-9646-D675-538A6CC4F5FD}"/>
              </a:ext>
            </a:extLst>
          </p:cNvPr>
          <p:cNvSpPr txBox="1"/>
          <p:nvPr/>
        </p:nvSpPr>
        <p:spPr>
          <a:xfrm>
            <a:off x="7596494" y="1903131"/>
            <a:ext cx="231966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/>
              <a:t>Filing of Evidence</a:t>
            </a:r>
          </a:p>
          <a:p>
            <a:endParaRPr lang="en-GB" sz="1400" b="1" dirty="0"/>
          </a:p>
          <a:p>
            <a:pPr marL="342900" indent="-342900">
              <a:buAutoNum type="arabicPeriod"/>
            </a:pPr>
            <a:r>
              <a:rPr lang="en-GB" sz="1400" dirty="0">
                <a:solidFill>
                  <a:srgbClr val="0070C0"/>
                </a:solidFill>
              </a:rPr>
              <a:t>Welcome</a:t>
            </a:r>
          </a:p>
          <a:p>
            <a:pPr marL="342900" indent="-342900">
              <a:buAutoNum type="arabicPeriod"/>
            </a:pPr>
            <a:r>
              <a:rPr lang="en-GB" sz="1400" dirty="0">
                <a:solidFill>
                  <a:srgbClr val="0070C0"/>
                </a:solidFill>
              </a:rPr>
              <a:t>LAA Uplifts</a:t>
            </a:r>
          </a:p>
          <a:p>
            <a:pPr marL="342900" indent="-342900">
              <a:buAutoNum type="arabicPeriod"/>
            </a:pPr>
            <a:r>
              <a:rPr lang="en-GB" sz="1400" dirty="0">
                <a:solidFill>
                  <a:srgbClr val="0070C0"/>
                </a:solidFill>
              </a:rPr>
              <a:t>Thresholds</a:t>
            </a:r>
          </a:p>
          <a:p>
            <a:pPr marL="342900" indent="-342900">
              <a:buAutoNum type="arabicPeriod"/>
            </a:pPr>
            <a:endParaRPr lang="en-GB" sz="1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CBCF87-3B07-2A72-AD38-0C9E32C773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5114" y="5323839"/>
            <a:ext cx="2114550" cy="56197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CA60CDD-ADE8-38A6-6DFD-8950F1B5DDDE}"/>
              </a:ext>
            </a:extLst>
          </p:cNvPr>
          <p:cNvSpPr/>
          <p:nvPr/>
        </p:nvSpPr>
        <p:spPr>
          <a:xfrm>
            <a:off x="2328672" y="5467755"/>
            <a:ext cx="1103376" cy="158496"/>
          </a:xfrm>
          <a:prstGeom prst="rect">
            <a:avLst/>
          </a:prstGeom>
          <a:solidFill>
            <a:srgbClr val="006E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F70941-9F16-E5BE-8E9D-64743B40D747}"/>
              </a:ext>
            </a:extLst>
          </p:cNvPr>
          <p:cNvSpPr txBox="1"/>
          <p:nvPr/>
        </p:nvSpPr>
        <p:spPr>
          <a:xfrm>
            <a:off x="2403835" y="5386721"/>
            <a:ext cx="9184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bg1"/>
                </a:solidFill>
              </a:rPr>
              <a:t>Continue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0EEAFAE-9432-DCE3-38F6-6C87A3333369}"/>
              </a:ext>
            </a:extLst>
          </p:cNvPr>
          <p:cNvSpPr txBox="1"/>
          <p:nvPr/>
        </p:nvSpPr>
        <p:spPr>
          <a:xfrm>
            <a:off x="7567580" y="3331640"/>
            <a:ext cx="231966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u="sng" dirty="0">
                <a:solidFill>
                  <a:srgbClr val="0070C0"/>
                </a:solidFill>
              </a:rPr>
              <a:t>View LAA Guide (pdf)</a:t>
            </a:r>
            <a:br>
              <a:rPr lang="en-GB" sz="1400" u="sng" dirty="0">
                <a:solidFill>
                  <a:srgbClr val="0070C0"/>
                </a:solidFill>
              </a:rPr>
            </a:br>
            <a:r>
              <a:rPr lang="en-GB" sz="1400" u="sng" dirty="0">
                <a:solidFill>
                  <a:srgbClr val="0070C0"/>
                </a:solidFill>
              </a:rPr>
              <a:t>Clear Page Entries</a:t>
            </a:r>
          </a:p>
          <a:p>
            <a:pPr marL="342900" indent="-342900">
              <a:buAutoNum type="arabicPeriod"/>
            </a:pPr>
            <a:endParaRPr lang="en-GB" sz="1400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B79E99-FDEE-F822-393E-34DC39A6CAA5}"/>
              </a:ext>
            </a:extLst>
          </p:cNvPr>
          <p:cNvSpPr/>
          <p:nvPr/>
        </p:nvSpPr>
        <p:spPr>
          <a:xfrm>
            <a:off x="-365760" y="6239438"/>
            <a:ext cx="12812358" cy="86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A80273-CBEC-163A-C93C-F6305CA51796}"/>
              </a:ext>
            </a:extLst>
          </p:cNvPr>
          <p:cNvSpPr txBox="1"/>
          <p:nvPr/>
        </p:nvSpPr>
        <p:spPr>
          <a:xfrm>
            <a:off x="2043084" y="6417162"/>
            <a:ext cx="720849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This form is for the use of Woodruff Billing clients only.</a:t>
            </a:r>
            <a:br>
              <a:rPr lang="en-GB" sz="1400" dirty="0"/>
            </a:br>
            <a:r>
              <a:rPr lang="en-GB" sz="1400" dirty="0"/>
              <a:t>Please refer to our </a:t>
            </a:r>
            <a:r>
              <a:rPr lang="en-GB" sz="1400" u="sng" dirty="0">
                <a:solidFill>
                  <a:srgbClr val="0070C0"/>
                </a:solidFill>
              </a:rPr>
              <a:t>terms &amp; conditions.</a:t>
            </a:r>
            <a:r>
              <a:rPr lang="en-GB" sz="1400" dirty="0">
                <a:solidFill>
                  <a:srgbClr val="0070C0"/>
                </a:solidFill>
              </a:rPr>
              <a:t>		(</a:t>
            </a:r>
            <a:r>
              <a:rPr lang="en-GB" sz="1400" dirty="0"/>
              <a:t>c)Woodruff Billing Ltd 2025	</a:t>
            </a:r>
          </a:p>
        </p:txBody>
      </p:sp>
      <p:pic>
        <p:nvPicPr>
          <p:cNvPr id="22" name="Picture 21" descr="A green button with black text&#10;&#10;AI-generated content may be incorrect.">
            <a:extLst>
              <a:ext uri="{FF2B5EF4-FFF2-40B4-BE49-F238E27FC236}">
                <a16:creationId xmlns:a16="http://schemas.microsoft.com/office/drawing/2014/main" id="{6E46B24B-2EBA-7F9C-9E5A-6A849E459E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0716" y="4070304"/>
            <a:ext cx="697127" cy="697127"/>
          </a:xfrm>
          <a:prstGeom prst="rect">
            <a:avLst/>
          </a:prstGeom>
        </p:spPr>
      </p:pic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6C8228A1-C364-53F3-D674-23334191BF90}"/>
              </a:ext>
            </a:extLst>
          </p:cNvPr>
          <p:cNvSpPr/>
          <p:nvPr/>
        </p:nvSpPr>
        <p:spPr>
          <a:xfrm rot="5400000">
            <a:off x="2277231" y="4825471"/>
            <a:ext cx="124269" cy="133064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2B6FCC2-BAA5-7DC4-1886-CA8E4D83C9AD}"/>
              </a:ext>
            </a:extLst>
          </p:cNvPr>
          <p:cNvSpPr txBox="1"/>
          <p:nvPr/>
        </p:nvSpPr>
        <p:spPr>
          <a:xfrm>
            <a:off x="2442242" y="4742111"/>
            <a:ext cx="21532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u="sng" dirty="0">
                <a:solidFill>
                  <a:srgbClr val="0070C0"/>
                </a:solidFill>
              </a:rPr>
              <a:t>Help about: Matter Type</a:t>
            </a:r>
          </a:p>
        </p:txBody>
      </p:sp>
      <p:sp>
        <p:nvSpPr>
          <p:cNvPr id="31" name="Isosceles Triangle 30">
            <a:extLst>
              <a:ext uri="{FF2B5EF4-FFF2-40B4-BE49-F238E27FC236}">
                <a16:creationId xmlns:a16="http://schemas.microsoft.com/office/drawing/2014/main" id="{D65EDBE5-D602-035E-5561-4074CBAB1534}"/>
              </a:ext>
            </a:extLst>
          </p:cNvPr>
          <p:cNvSpPr/>
          <p:nvPr/>
        </p:nvSpPr>
        <p:spPr>
          <a:xfrm rot="5400000">
            <a:off x="2293160" y="3568787"/>
            <a:ext cx="124269" cy="133064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8EDF92C-4F63-199D-3D93-5C39A38ADDB8}"/>
              </a:ext>
            </a:extLst>
          </p:cNvPr>
          <p:cNvSpPr txBox="1"/>
          <p:nvPr/>
        </p:nvSpPr>
        <p:spPr>
          <a:xfrm>
            <a:off x="2458171" y="3485427"/>
            <a:ext cx="21532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u="sng" dirty="0">
                <a:solidFill>
                  <a:srgbClr val="0070C0"/>
                </a:solidFill>
              </a:rPr>
              <a:t>Help about: Matter Type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C1B70A2-7E07-FA52-1AD5-1D7F0A3EAC53}"/>
              </a:ext>
            </a:extLst>
          </p:cNvPr>
          <p:cNvSpPr txBox="1"/>
          <p:nvPr/>
        </p:nvSpPr>
        <p:spPr>
          <a:xfrm>
            <a:off x="2275839" y="3040576"/>
            <a:ext cx="35441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bg1">
                    <a:lumMod val="75000"/>
                  </a:schemeClr>
                </a:solidFill>
              </a:rPr>
              <a:t>Smith 29964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DB426EB-670A-63FC-A91B-7EA774259560}"/>
              </a:ext>
            </a:extLst>
          </p:cNvPr>
          <p:cNvSpPr txBox="1"/>
          <p:nvPr/>
        </p:nvSpPr>
        <p:spPr>
          <a:xfrm>
            <a:off x="2272833" y="2287881"/>
            <a:ext cx="35441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bg1">
                    <a:lumMod val="75000"/>
                  </a:schemeClr>
                </a:solidFill>
              </a:rPr>
              <a:t>Chloe Justice</a:t>
            </a:r>
          </a:p>
        </p:txBody>
      </p:sp>
    </p:spTree>
    <p:extLst>
      <p:ext uri="{BB962C8B-B14F-4D97-AF65-F5344CB8AC3E}">
        <p14:creationId xmlns:p14="http://schemas.microsoft.com/office/powerpoint/2010/main" val="6316772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3E10665-53AF-8AF5-4E6F-41DD29AAAF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8579"/>
            <a:ext cx="12192000" cy="532084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E643247-4609-932C-A565-1494C2033C45}"/>
              </a:ext>
            </a:extLst>
          </p:cNvPr>
          <p:cNvSpPr/>
          <p:nvPr/>
        </p:nvSpPr>
        <p:spPr>
          <a:xfrm>
            <a:off x="86360" y="782320"/>
            <a:ext cx="2900680" cy="4521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EA14AB3-3C1E-FA38-E52D-CA34288A04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8200" y="835752"/>
            <a:ext cx="2556827" cy="38956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79B29EA-F1EE-704C-A826-D72BBD41A023}"/>
              </a:ext>
            </a:extLst>
          </p:cNvPr>
          <p:cNvSpPr/>
          <p:nvPr/>
        </p:nvSpPr>
        <p:spPr>
          <a:xfrm>
            <a:off x="-40640" y="1248181"/>
            <a:ext cx="2184400" cy="4521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4CF2303-602D-8392-FE58-78D5B2175161}"/>
              </a:ext>
            </a:extLst>
          </p:cNvPr>
          <p:cNvSpPr/>
          <p:nvPr/>
        </p:nvSpPr>
        <p:spPr>
          <a:xfrm>
            <a:off x="7721600" y="1248181"/>
            <a:ext cx="5003800" cy="291059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BB43AD2-C618-F7D9-6149-066E2C02C3B0}"/>
              </a:ext>
            </a:extLst>
          </p:cNvPr>
          <p:cNvSpPr/>
          <p:nvPr/>
        </p:nvSpPr>
        <p:spPr>
          <a:xfrm>
            <a:off x="9362440" y="911003"/>
            <a:ext cx="2743200" cy="21580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9A31BF4-56DF-4208-D5C6-8F6D08B27E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2126" y="5681400"/>
            <a:ext cx="1449474" cy="29105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F905E62-0BCF-BDFD-200E-4A08E5B12D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3450" y="5711418"/>
            <a:ext cx="3638550" cy="29105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CB4AC17D-CD45-F56F-339F-D0D26FC888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361" y="5651386"/>
            <a:ext cx="3434080" cy="35109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FC296F5-D818-4503-E5F2-FBCCD5BD014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08200" y="5681401"/>
            <a:ext cx="3638550" cy="29105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F80544DB-742D-CC29-A8BF-AEB4445C0A8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76120" y="3765341"/>
            <a:ext cx="5826760" cy="806314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4D75509B-A2CE-C8A0-10DF-88647E6231B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36419" y="3194004"/>
            <a:ext cx="5966461" cy="63246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55F8FDC3-E8F3-359C-F8C3-AA5948AFCA5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94560" y="3130151"/>
            <a:ext cx="5476240" cy="362518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4B80CCE8-C8F3-5F1E-5990-8FBDFCB5B29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40560" y="3494886"/>
            <a:ext cx="5826760" cy="23745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74F6A4B0-1F5C-CADA-9CAD-ACBC3097110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453640" y="2863199"/>
            <a:ext cx="3042920" cy="172832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9768EDDE-F8FB-9CFB-30C6-1A891782109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428240" y="3050243"/>
            <a:ext cx="1843272" cy="197494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30872A15-15DA-A511-7230-59041660DF37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428240" y="3246216"/>
            <a:ext cx="1289685" cy="154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6123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69C434F-84E7-448B-9338-3937CC1CE7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7887" y="1397061"/>
            <a:ext cx="2243153" cy="22301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A768A04A-8449-8C77-3EA0-C4F7B9348151}"/>
              </a:ext>
            </a:extLst>
          </p:cNvPr>
          <p:cNvSpPr/>
          <p:nvPr/>
        </p:nvSpPr>
        <p:spPr>
          <a:xfrm>
            <a:off x="1862976" y="1225654"/>
            <a:ext cx="2572973" cy="2572973"/>
          </a:xfrm>
          <a:prstGeom prst="ellipse">
            <a:avLst/>
          </a:prstGeom>
          <a:noFill/>
          <a:ln w="4476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0B553C-445C-F1CB-1736-AEDB7293E304}"/>
              </a:ext>
            </a:extLst>
          </p:cNvPr>
          <p:cNvSpPr/>
          <p:nvPr/>
        </p:nvSpPr>
        <p:spPr>
          <a:xfrm rot="2550625">
            <a:off x="3474973" y="730803"/>
            <a:ext cx="1592132" cy="98970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ACFF7E-42DE-1640-F0E6-28D3742512D4}"/>
              </a:ext>
            </a:extLst>
          </p:cNvPr>
          <p:cNvSpPr/>
          <p:nvPr/>
        </p:nvSpPr>
        <p:spPr>
          <a:xfrm rot="2550625">
            <a:off x="1149365" y="3236720"/>
            <a:ext cx="1592132" cy="98970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128296-B9DB-6301-12E2-D5733BBC96CF}"/>
              </a:ext>
            </a:extLst>
          </p:cNvPr>
          <p:cNvSpPr/>
          <p:nvPr/>
        </p:nvSpPr>
        <p:spPr>
          <a:xfrm rot="2550625">
            <a:off x="3692060" y="2416233"/>
            <a:ext cx="1592132" cy="302209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6B1C833-E2EF-3EDD-C774-C1D0203B6682}"/>
              </a:ext>
            </a:extLst>
          </p:cNvPr>
          <p:cNvSpPr/>
          <p:nvPr/>
        </p:nvSpPr>
        <p:spPr>
          <a:xfrm rot="2550625">
            <a:off x="893715" y="-297190"/>
            <a:ext cx="1592132" cy="302209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1767364-23FE-26EC-27CC-39E87B762569}"/>
              </a:ext>
            </a:extLst>
          </p:cNvPr>
          <p:cNvSpPr/>
          <p:nvPr/>
        </p:nvSpPr>
        <p:spPr>
          <a:xfrm rot="4993335">
            <a:off x="3685239" y="1029641"/>
            <a:ext cx="3474189" cy="204297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47572A2-F27F-4BCF-F294-E74FBB28F2D9}"/>
              </a:ext>
            </a:extLst>
          </p:cNvPr>
          <p:cNvSpPr/>
          <p:nvPr/>
        </p:nvSpPr>
        <p:spPr>
          <a:xfrm rot="4993335">
            <a:off x="-795326" y="1844164"/>
            <a:ext cx="3474189" cy="204297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DBC7AD8-C83B-D870-3BE7-5CD764DB26AE}"/>
              </a:ext>
            </a:extLst>
          </p:cNvPr>
          <p:cNvSpPr/>
          <p:nvPr/>
        </p:nvSpPr>
        <p:spPr>
          <a:xfrm rot="576512">
            <a:off x="992296" y="3612789"/>
            <a:ext cx="3474189" cy="204297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39886AA-6CEE-4345-0898-38D87376885A}"/>
              </a:ext>
            </a:extLst>
          </p:cNvPr>
          <p:cNvSpPr/>
          <p:nvPr/>
        </p:nvSpPr>
        <p:spPr>
          <a:xfrm rot="576512">
            <a:off x="1835913" y="-664340"/>
            <a:ext cx="3474189" cy="204297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6101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</TotalTime>
  <Words>121</Words>
  <Application>Microsoft Office PowerPoint</Application>
  <PresentationFormat>Widescreen</PresentationFormat>
  <Paragraphs>23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thescoop</dc:creator>
  <cp:lastModifiedBy>thescoop</cp:lastModifiedBy>
  <cp:revision>6</cp:revision>
  <dcterms:created xsi:type="dcterms:W3CDTF">2025-05-13T19:51:18Z</dcterms:created>
  <dcterms:modified xsi:type="dcterms:W3CDTF">2025-05-16T12:16:46Z</dcterms:modified>
</cp:coreProperties>
</file>